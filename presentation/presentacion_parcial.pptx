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f7c8a7cd70a4852" /><Relationship Type="http://schemas.openxmlformats.org/officeDocument/2006/relationships/extended-properties" Target="/docProps/app.xml" Id="R4214cea06e294636" /><Relationship Type="http://schemas.openxmlformats.org/officeDocument/2006/relationships/officeDocument" Target="/ppt/presentation.xml" Id="R320a80406524425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276230e8a34ded"/>
  </p:sldMasterIdLst>
  <p:notesMasterIdLst>
    <p:notesMasterId xmlns:r="http://schemas.openxmlformats.org/officeDocument/2006/relationships" r:id="R2b492754dac947fc"/>
  </p:notesMasterIdLst>
  <p:sldIdLst>
    <p:sldId xmlns:r="http://schemas.openxmlformats.org/officeDocument/2006/relationships" id="256" r:id="Rb2a3d3b0fe0a4669"/>
    <p:sldId xmlns:r="http://schemas.openxmlformats.org/officeDocument/2006/relationships" id="257" r:id="Rdb41c008d68b4b5a"/>
    <p:sldId xmlns:r="http://schemas.openxmlformats.org/officeDocument/2006/relationships" id="258" r:id="R8d2e8b6e1e1e4bdb"/>
    <p:sldId xmlns:r="http://schemas.openxmlformats.org/officeDocument/2006/relationships" id="259" r:id="R0c05bc43b7fc4071"/>
    <p:sldId xmlns:r="http://schemas.openxmlformats.org/officeDocument/2006/relationships" id="260" r:id="Read0ef6a117a41fb"/>
    <p:sldId xmlns:r="http://schemas.openxmlformats.org/officeDocument/2006/relationships" id="261" r:id="Rcf680a9d9fc04362"/>
    <p:sldId xmlns:r="http://schemas.openxmlformats.org/officeDocument/2006/relationships" id="262" r:id="Ra85013a9698346a6"/>
    <p:sldId xmlns:r="http://schemas.openxmlformats.org/officeDocument/2006/relationships" id="263" r:id="R5876a0629d30425a"/>
    <p:sldId xmlns:r="http://schemas.openxmlformats.org/officeDocument/2006/relationships" id="264" r:id="R4e72cce7d06f406e"/>
    <p:sldId xmlns:r="http://schemas.openxmlformats.org/officeDocument/2006/relationships" id="265" r:id="R89cdfd0e73224288"/>
    <p:sldId xmlns:r="http://schemas.openxmlformats.org/officeDocument/2006/relationships" id="266" r:id="R7a0afb547bba47f8"/>
    <p:sldId xmlns:r="http://schemas.openxmlformats.org/officeDocument/2006/relationships" id="267" r:id="R0ddbfde97b884cfd"/>
    <p:sldId xmlns:r="http://schemas.openxmlformats.org/officeDocument/2006/relationships" id="268" r:id="R5c7c01bc578742d5"/>
    <p:sldId xmlns:r="http://schemas.openxmlformats.org/officeDocument/2006/relationships" id="269" r:id="Rb12bd9cccff04e86"/>
    <p:sldId xmlns:r="http://schemas.openxmlformats.org/officeDocument/2006/relationships" id="270" r:id="Re701056b8bfc465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4489559381145f9" /><Relationship Type="http://schemas.openxmlformats.org/officeDocument/2006/relationships/slideMaster" Target="/ppt/slideMasters/slideMaster1.xml" Id="Re6276230e8a34ded" /><Relationship Type="http://schemas.openxmlformats.org/officeDocument/2006/relationships/notesMaster" Target="/ppt/notesMasters/notesMaster1.xml" Id="R2b492754dac947fc" /><Relationship Type="http://schemas.openxmlformats.org/officeDocument/2006/relationships/presProps" Target="/ppt/presProps.xml" Id="R1866398209664bfa" /><Relationship Type="http://schemas.openxmlformats.org/officeDocument/2006/relationships/tableStyles" Target="/ppt/tableStyles.xml" Id="R89db36dacf344be9" /><Relationship Type="http://schemas.openxmlformats.org/officeDocument/2006/relationships/slide" Target="/ppt/slides/slide1.xml" Id="Rb2a3d3b0fe0a4669" /><Relationship Type="http://schemas.openxmlformats.org/officeDocument/2006/relationships/slide" Target="/ppt/slides/slide2.xml" Id="Rdb41c008d68b4b5a" /><Relationship Type="http://schemas.openxmlformats.org/officeDocument/2006/relationships/slide" Target="/ppt/slides/slide3.xml" Id="R8d2e8b6e1e1e4bdb" /><Relationship Type="http://schemas.openxmlformats.org/officeDocument/2006/relationships/slide" Target="/ppt/slides/slide4.xml" Id="R0c05bc43b7fc4071" /><Relationship Type="http://schemas.openxmlformats.org/officeDocument/2006/relationships/slide" Target="/ppt/slides/slide5.xml" Id="Read0ef6a117a41fb" /><Relationship Type="http://schemas.openxmlformats.org/officeDocument/2006/relationships/slide" Target="/ppt/slides/slide6.xml" Id="Rcf680a9d9fc04362" /><Relationship Type="http://schemas.openxmlformats.org/officeDocument/2006/relationships/slide" Target="/ppt/slides/slide7.xml" Id="Ra85013a9698346a6" /><Relationship Type="http://schemas.openxmlformats.org/officeDocument/2006/relationships/slide" Target="/ppt/slides/slide8.xml" Id="R5876a0629d30425a" /><Relationship Type="http://schemas.openxmlformats.org/officeDocument/2006/relationships/slide" Target="/ppt/slides/slide9.xml" Id="R4e72cce7d06f406e" /><Relationship Type="http://schemas.openxmlformats.org/officeDocument/2006/relationships/slide" Target="/ppt/slides/slide10.xml" Id="R89cdfd0e73224288" /><Relationship Type="http://schemas.openxmlformats.org/officeDocument/2006/relationships/slide" Target="/ppt/slides/slide11.xml" Id="R7a0afb547bba47f8" /><Relationship Type="http://schemas.openxmlformats.org/officeDocument/2006/relationships/slide" Target="/ppt/slides/slide12.xml" Id="R0ddbfde97b884cfd" /><Relationship Type="http://schemas.openxmlformats.org/officeDocument/2006/relationships/slide" Target="/ppt/slides/slide13.xml" Id="R5c7c01bc578742d5" /><Relationship Type="http://schemas.openxmlformats.org/officeDocument/2006/relationships/slide" Target="/ppt/slides/slide14.xml" Id="Rb12bd9cccff04e86" /><Relationship Type="http://schemas.openxmlformats.org/officeDocument/2006/relationships/slide" Target="/ppt/slides/slide15.xml" Id="Re701056b8bfc465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0710fe10c33434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c130d0b9f154001" /><Relationship Type="http://schemas.openxmlformats.org/officeDocument/2006/relationships/notesMaster" Target="/ppt/notesMasters/notesMaster1.xml" Id="R82e9db8090f14d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9c26b9e2fec4a4e" /><Relationship Type="http://schemas.openxmlformats.org/officeDocument/2006/relationships/notesMaster" Target="/ppt/notesMasters/notesMaster1.xml" Id="R79d0426f030647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6cfa0cd61f445d" /><Relationship Type="http://schemas.openxmlformats.org/officeDocument/2006/relationships/notesMaster" Target="/ppt/notesMasters/notesMaster1.xml" Id="Rd8c42adb95dc472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807466cad1b453b" /><Relationship Type="http://schemas.openxmlformats.org/officeDocument/2006/relationships/notesMaster" Target="/ppt/notesMasters/notesMaster1.xml" Id="Ra4996178bdb1490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18be33b5434228" /><Relationship Type="http://schemas.openxmlformats.org/officeDocument/2006/relationships/notesMaster" Target="/ppt/notesMasters/notesMaster1.xml" Id="R90ad642ad1f6453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06b3b3bf3534229" /><Relationship Type="http://schemas.openxmlformats.org/officeDocument/2006/relationships/notesMaster" Target="/ppt/notesMasters/notesMaster1.xml" Id="Rcfb8f7bbc2944e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0d30c6e78bb4ed1" /><Relationship Type="http://schemas.openxmlformats.org/officeDocument/2006/relationships/notesMaster" Target="/ppt/notesMasters/notesMaster1.xml" Id="R431b8df5fd2642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1fd4e7ba205478f" /><Relationship Type="http://schemas.openxmlformats.org/officeDocument/2006/relationships/notesMaster" Target="/ppt/notesMasters/notesMaster1.xml" Id="Rc8dfe3d43c5c474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daa4df941974819" /><Relationship Type="http://schemas.openxmlformats.org/officeDocument/2006/relationships/notesMaster" Target="/ppt/notesMasters/notesMaster1.xml" Id="R4558c779aa47459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bb0367817234336" /><Relationship Type="http://schemas.openxmlformats.org/officeDocument/2006/relationships/notesMaster" Target="/ppt/notesMasters/notesMaster1.xml" Id="R8e0acc4f63fd4cf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b1c5f6a5beb418b" /><Relationship Type="http://schemas.openxmlformats.org/officeDocument/2006/relationships/notesMaster" Target="/ppt/notesMasters/notesMaster1.xml" Id="Rdafe5d24e77a4a5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26d7bf2df3e471f" /><Relationship Type="http://schemas.openxmlformats.org/officeDocument/2006/relationships/notesMaster" Target="/ppt/notesMasters/notesMaster1.xml" Id="R368a5b756cd947a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3c2a5dcd4bf49f3" /><Relationship Type="http://schemas.openxmlformats.org/officeDocument/2006/relationships/notesMaster" Target="/ppt/notesMasters/notesMaster1.xml" Id="Rd574d45b5cff452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04ad5de97cf4627" /><Relationship Type="http://schemas.openxmlformats.org/officeDocument/2006/relationships/notesMaster" Target="/ppt/notesMasters/notesMaster1.xml" Id="R108c8ad8cb5a475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ea7b7bcf1e441ad" /><Relationship Type="http://schemas.openxmlformats.org/officeDocument/2006/relationships/notesMaster" Target="/ppt/notesMasters/notesMaster1.xml" Id="Rc1f9aaab65614b7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Abrir presentando el proyecto como una integracion de denuncias registradas, victimización, percepción de inseguridad y confianza institucional. Aclarar desde el inicio que denuncias no equivalen a criminalidad real.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que el objetivo no es decir que un territorio es criminal, sino reconocer patrones de seguridad ciudadana registrados en fuentes oficiales.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merge_audit.json. Filas integradas: 175. Departamentos: 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Remarcar reproducibilidad: el proyecto no se apoya en capturas manuales, sino en scripts, notebook y outputs versionados.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Usar esta diapositiva para explicar la tension entre victimización y percepción. No presentar causalidad.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Aclarar la diferencia entre denuncia registrada y criminalidad real. Esta es una defensa metodologica clave.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Señalar que correlación no implica causalidad. El grafico se usa como evidencia exploratoria.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Responder aqui por que K-Means y por que k=2: desempeño comparado y separacion interpretable despues de corregir Lima y Callao.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los perfiles como grupos comparativos. No son etiquetas morales ni rankings de criminalidad.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Mostrar que la correccion metodologica mejora la interpretacion territorial. La plataforma permite cambiar año y metrica.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por que accuracy no basta. El DummyClassifier tiene accuracy de 0.72 pero precision, recall y F1 son cero para la clase positiva.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Defender la evaluacion con multiples metricas. Mencionar que el target se define por percentil 75 anual.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Explicar XAI como herramienta de transparencia. No presentar importancias como causas.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Esta diapositiva responde preguntas de etica, sesgo, leakage y limitaciones territoriales.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Cerrar con la idea de utilidad publica responsable. Invitar preguntas sobre datos, modelo, metricas y limites.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93865da87043c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8234385776d46e8" /><Relationship Type="http://schemas.openxmlformats.org/officeDocument/2006/relationships/slideLayout" Target="/ppt/slideLayouts/slideLayout1.xml" Id="R45c068eb8e67451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5c068eb8e67451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67145c8d10409d" /><Relationship Type="http://schemas.openxmlformats.org/officeDocument/2006/relationships/notesSlide" Target="/ppt/notesSlides/notesSlide1.xml" Id="R083defb20516494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f472b398fc413a" /><Relationship Type="http://schemas.openxmlformats.org/officeDocument/2006/relationships/notesSlide" Target="/ppt/notesSlides/notesSlide2.xml" Id="R0bf0050baff44e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357b1b75bd47c1" /><Relationship Type="http://schemas.openxmlformats.org/officeDocument/2006/relationships/notesSlide" Target="/ppt/notesSlides/notesSlide3.xml" Id="R3d38b637c5c14f3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48509890e14225" /><Relationship Type="http://schemas.openxmlformats.org/officeDocument/2006/relationships/notesSlide" Target="/ppt/notesSlides/notesSlide4.xml" Id="R9bda6ca02474463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ef091341c94b53" /><Relationship Type="http://schemas.openxmlformats.org/officeDocument/2006/relationships/image" Target="/ppt/media/image.png" Id="R9c9b90353dc04b2d" /><Relationship Type="http://schemas.openxmlformats.org/officeDocument/2006/relationships/notesSlide" Target="/ppt/notesSlides/notesSlide5.xml" Id="R47886307781c47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c04876205e442e" /><Relationship Type="http://schemas.openxmlformats.org/officeDocument/2006/relationships/image" Target="/ppt/media/image2.png" Id="R005fbdf39bc648a7" /><Relationship Type="http://schemas.openxmlformats.org/officeDocument/2006/relationships/notesSlide" Target="/ppt/notesSlides/notesSlide6.xml" Id="Rbbbca2b8372349e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22c5b418f14683" /><Relationship Type="http://schemas.openxmlformats.org/officeDocument/2006/relationships/image" Target="/ppt/media/image3.png" Id="Rf0b4c8d01da94e00" /><Relationship Type="http://schemas.openxmlformats.org/officeDocument/2006/relationships/notesSlide" Target="/ppt/notesSlides/notesSlide7.xml" Id="R0252eff0341e44f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00d7ad65274b20" /><Relationship Type="http://schemas.openxmlformats.org/officeDocument/2006/relationships/image" Target="/ppt/media/image4.png" Id="R6f7b7570b6b842c2" /><Relationship Type="http://schemas.openxmlformats.org/officeDocument/2006/relationships/image" Target="/ppt/media/image5.png" Id="Rffbbe994490a43a6" /><Relationship Type="http://schemas.openxmlformats.org/officeDocument/2006/relationships/notesSlide" Target="/ppt/notesSlides/notesSlide8.xml" Id="R92fc39e506c14c4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20ccedc36f4c5c" /><Relationship Type="http://schemas.openxmlformats.org/officeDocument/2006/relationships/image" Target="/ppt/media/image6.png" Id="R131ee4aba1314825" /><Relationship Type="http://schemas.openxmlformats.org/officeDocument/2006/relationships/notesSlide" Target="/ppt/notesSlides/notesSlide9.xml" Id="R6d4321e8621f4a3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4ddc5b62be4cef" /><Relationship Type="http://schemas.openxmlformats.org/officeDocument/2006/relationships/image" Target="/ppt/media/image7.png" Id="R0430925ffb2145bc" /><Relationship Type="http://schemas.openxmlformats.org/officeDocument/2006/relationships/notesSlide" Target="/ppt/notesSlides/notesSlide10.xml" Id="R120864619fab4f1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ed14c8c0784e63" /><Relationship Type="http://schemas.openxmlformats.org/officeDocument/2006/relationships/notesSlide" Target="/ppt/notesSlides/notesSlide11.xml" Id="Re494b8d5f9cb45a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348e47e2cf4d09" /><Relationship Type="http://schemas.openxmlformats.org/officeDocument/2006/relationships/image" Target="/ppt/media/image8.png" Id="R4e70f49c04b24dc4" /><Relationship Type="http://schemas.openxmlformats.org/officeDocument/2006/relationships/image" Target="/ppt/media/image9.png" Id="R01a7d06ab32049d3" /><Relationship Type="http://schemas.openxmlformats.org/officeDocument/2006/relationships/image" Target="/ppt/media/image10.png" Id="R81a40d198fe24579" /><Relationship Type="http://schemas.openxmlformats.org/officeDocument/2006/relationships/notesSlide" Target="/ppt/notesSlides/notesSlide12.xml" Id="R5e6c5759fafb4d7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a480f0db9c45b6" /><Relationship Type="http://schemas.openxmlformats.org/officeDocument/2006/relationships/image" Target="/ppt/media/image11.png" Id="R853205e2bca14f71" /><Relationship Type="http://schemas.openxmlformats.org/officeDocument/2006/relationships/notesSlide" Target="/ppt/notesSlides/notesSlide13.xml" Id="R1968d653993f41c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cca16ecae34ce3" /><Relationship Type="http://schemas.openxmlformats.org/officeDocument/2006/relationships/notesSlide" Target="/ppt/notesSlides/notesSlide14.xml" Id="Rb215e0b7b5c64af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4c1592441d4ff0" /><Relationship Type="http://schemas.openxmlformats.org/officeDocument/2006/relationships/notesSlide" Target="/ppt/notesSlides/notesSlide15.xml" Id="R40786f04d06744b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B767B1-495A-4BD9-8C41-DC135A8BA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D770A9-A944-4E8C-B73B-D875A6E7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95900"/>
            <a:ext cx="121920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6091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259C28-FA36-49AF-BCCC-757AA718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9144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D8B6F8-BBA6-40A1-8A2B-143F6D45F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8382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Seguridad ciudadana en el Peru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0ADFD9-4DBC-4905-8878-8AC477B6C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8286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8F0F7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E8F0F7"/>
                </a:solidFill>
                <a:latin typeface="Aptos"/>
                <a:ea typeface="Aptos"/>
                <a:cs typeface="Aptos"/>
              </a:rPr>
              <a:t>Perfiles territoriales de criminalidad registrada y clasificacion de contextos de alta inseguridad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5CD7F2-310D-4BFF-B878-714AB142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BCD1E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BCD1E3"/>
                </a:solidFill>
                <a:latin typeface="Aptos"/>
                <a:ea typeface="Aptos"/>
                <a:cs typeface="Aptos"/>
              </a:rPr>
              <a:t>Machine Learning aplicado a datos oficiales, 2018-2024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1CC3F8-2A21-4110-9CDF-0C2E3D783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2000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5E8490-5571-4633-B11D-AF52B736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72025"/>
            <a:ext cx="1657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6344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D28B0F-FDD5-457A-8D2D-2DA92AF82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53025"/>
            <a:ext cx="1657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5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departamentos integrados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91ECBA-048E-4171-B2C3-4691E62A0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610100"/>
            <a:ext cx="2476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0F412E-9389-437F-8A8C-5E13A0BD0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72025"/>
            <a:ext cx="2133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6344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175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31F7DA-03A8-4466-87F3-A75F9C8A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153025"/>
            <a:ext cx="2133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93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observaciones departamento-anio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0CC983-A6B7-4A9E-AFEB-5C8CF77F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610100"/>
            <a:ext cx="22383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A04CF3-6DC2-41AD-A06D-71607252E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772025"/>
            <a:ext cx="18954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6344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FB7168-F12E-4AED-893F-93EDBA635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153025"/>
            <a:ext cx="18954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perfiles territoriales finales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C5E89B-1472-4151-80DD-25832FAE3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829300"/>
            <a:ext cx="190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Defensa tecnica</a:t>
            </a:r>
          </a:p>
        </p:txBody>
      </p:sp>
    </p:spTree>
    <p:extLst>
      <p:ext uri="{BB962C8B-B14F-4D97-AF65-F5344CB8AC3E}">
        <p14:creationId xmlns:p14="http://schemas.microsoft.com/office/powerpoint/2010/main" val="10854297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262E93-5BF8-488F-B741-1EFBDA1AB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609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6091"/>
                </a:solidFill>
                <a:latin typeface="Aptos"/>
                <a:ea typeface="Aptos"/>
                <a:cs typeface="Aptos"/>
              </a:rPr>
              <a:t>PUNTO DE PARTIDA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7B3A4-C214-4708-AAA6-A4CC1E243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0B1723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0B1723"/>
                </a:solidFill>
                <a:latin typeface="Aptos"/>
                <a:ea typeface="Aptos"/>
                <a:cs typeface="Aptos"/>
              </a:rPr>
              <a:t>Problema y preguntas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BA4885-9D01-4E94-BD36-5E1BB1A6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C617B9-AFEC-457A-B9EB-A0FB4054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096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La evidencia territorial no mide una sola cosa. Denuncias, victimización, percepción e institucionalidad pueden moverse en direcciones distintas.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C7F0CC-4924-40D0-993B-E5DC5D14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622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4501D6-497D-4844-8FDE-35D836CA4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76550"/>
            <a:ext cx="8820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Clustering: identificar perfiles territoriales comparables a nivel departamento-anio.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8510C7-AE6D-42B9-A787-28B7C19F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290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6F3270-FC38-476E-B3BB-D54DC8883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43300"/>
            <a:ext cx="8820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Clasificacion: anticipar contextos con victimización alta respecto al percentil anual.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FC7E12-B5B7-4993-938F-9BA051090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9577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24835A-741C-426E-88EF-1FFD23BE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10050"/>
            <a:ext cx="88201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Uso responsable: interpretar patrones agregados sin estigmatizar territorios.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143FA9-09F9-485C-89DD-A2BA3D71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A8C"/>
                </a:solidFill>
                <a:latin typeface="Aptos"/>
                <a:ea typeface="Aptos"/>
                <a:cs typeface="Aptos"/>
              </a:rPr>
              <a:t>Seguridad ciudadana en el Peru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53A3DA-DA34-4C62-911F-63594FA8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348988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32103A-DB8B-43BC-BF6F-59B5B9CA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609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6091"/>
                </a:solidFill>
                <a:latin typeface="Aptos"/>
                <a:ea typeface="Aptos"/>
                <a:cs typeface="Aptos"/>
              </a:rPr>
              <a:t>BASE EMPIRICA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41114C-DFDA-47DA-B7FE-ED1ECE0F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0B1723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0B1723"/>
                </a:solidFill>
                <a:latin typeface="Aptos"/>
                <a:ea typeface="Aptos"/>
                <a:cs typeface="Aptos"/>
              </a:rPr>
              <a:t>Datos y unidad de analisis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AEE6A9-CFD2-4BDA-894F-648ECE937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618611-898D-4DB9-B597-E04120422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F30AE1-3379-4B8D-B18E-1C38E2C7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81175"/>
            <a:ext cx="2038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6344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369.1k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DD2796-EAD6-4335-A200-5313C456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62175"/>
            <a:ext cx="2038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263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registros de denuncias policiales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AB16A8-5F65-4DB8-9738-391C46C9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6192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A8672-5E82-46AD-94DA-2F08FF091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781175"/>
            <a:ext cx="2038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6344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1,592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AFE5A2-0492-43A9-AF54-70C3C5E1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62175"/>
            <a:ext cx="2038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registros ENAPRES revisados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836950-5FFB-45A9-9E94-313417E20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6192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FB80D5-930C-493D-B76B-2E73112B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81175"/>
            <a:ext cx="2038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6344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2018-2024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275EFB-3D8E-4356-AEFC-3A99A42E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62175"/>
            <a:ext cx="2038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periodo comun integrado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D85E1F-91FB-430B-8905-96584FC0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61925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0F8586-777E-495B-B24A-F611396A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81175"/>
            <a:ext cx="2038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6344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C375ED-27EB-47A9-B81F-4879EB7B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62175"/>
            <a:ext cx="2038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duplicados departamento-anio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116F33-855F-490F-BD93-84CB35C6F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5309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B1723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B1723"/>
                </a:solidFill>
                <a:latin typeface="Aptos"/>
                <a:ea typeface="Aptos"/>
                <a:cs typeface="Aptos"/>
              </a:rPr>
              <a:t>Nivel comun valido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420FBB-6E0C-4977-A352-FDD1167A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33800"/>
            <a:ext cx="7239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056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Departamento-anio. Es el punto donde coinciden las fuentes sin crear duplicaciones artificiales ni aparentar una desagregacion que la base ENAPRES no sostiene.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A57399-D72E-40AD-8ECF-694AD1A3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0"/>
            <a:ext cx="9810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368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E6091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E6091"/>
                </a:solidFill>
                <a:latin typeface="Aptos"/>
                <a:ea typeface="Aptos"/>
                <a:cs typeface="Aptos"/>
              </a:rPr>
              <a:t>Correccion aplicada: Lima Metropolitana y Region Lima se integran como LIMA; la Provincia Constitucional del Callao se integra como CALLAO.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37E38C-81B0-44F7-B372-7A2AA5FD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A8C"/>
                </a:solidFill>
                <a:latin typeface="Aptos"/>
                <a:ea typeface="Aptos"/>
                <a:cs typeface="Aptos"/>
              </a:rPr>
              <a:t>Seguridad ciudadana en el Peru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027473-1BF8-426A-B582-EAD7830A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917090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C4FC49-54E1-4970-AD7C-7F2019A2B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609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6091"/>
                </a:solidFill>
                <a:latin typeface="Aptos"/>
                <a:ea typeface="Aptos"/>
                <a:cs typeface="Aptos"/>
              </a:rPr>
              <a:t>METODO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AC9E65-E414-4837-AC77-5AA28197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0B1723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0B1723"/>
                </a:solidFill>
                <a:latin typeface="Aptos"/>
                <a:ea typeface="Aptos"/>
                <a:cs typeface="Aptos"/>
              </a:rPr>
              <a:t>Pipeline reproducible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B4FDAF-6306-4AFE-99B5-09DC3D1AD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047A1F-08AB-4B11-8B29-F332986FB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1219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A8E01F-4B50-493C-97DE-2448D5B6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Validacion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A65EFD-2817-4622-BBAF-41AF4146A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6860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F1B1B8-5166-46EB-AA7B-5A30AC3D4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333625"/>
            <a:ext cx="1219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EF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1EFB90-BBA8-487B-99EC-67EAD8D69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33650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Limpieza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A5E13B-CEFA-4CDF-A84E-93E0586E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860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DDAB78-D8CD-4132-A6CC-78389B204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333625"/>
            <a:ext cx="1219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F74DE7-824C-4523-9400-F9EB91213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533650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Merge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79631A-F1BC-49C9-BB31-8E718B13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860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664239-8B89-4F1D-AEDF-946B0F4A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333625"/>
            <a:ext cx="1219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EF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E5F5C5-ABED-42B4-9399-46FC9831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533650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EDA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5339DF-55B1-453E-AD62-FB71DFDE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6860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94A77C-5CD7-4F16-9F4D-D92518D6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333625"/>
            <a:ext cx="1219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4DB9C7-E979-4D1B-9206-956524B4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33650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Clustering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D71557-2C90-4C4D-9BD9-5F347706D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860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7854D6-8A31-4CED-923C-F29A27370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33625"/>
            <a:ext cx="1219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EF7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533DB6-020D-4368-B551-F40714DDF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533650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552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Clasificacion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A3F62D-07F3-4606-A8BF-A0CFBFD3F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86050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FF94B2-80CD-407A-936E-11A7EC91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333625"/>
            <a:ext cx="1219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83C6A5-3F2C-4EC8-9A88-E89D35AE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533650"/>
            <a:ext cx="1028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XAI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26513F-0B0D-4A6C-8F50-89C89C19F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0050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254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B172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B1723"/>
                </a:solidFill>
                <a:latin typeface="Aptos"/>
                <a:ea typeface="Aptos"/>
                <a:cs typeface="Aptos"/>
              </a:rPr>
              <a:t>Cada etapa deja salidas versionadas: tablas, figuras, modelos, notebook ejecutado, informe y tablero.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1C96F6-C069-44E2-9059-8C2A8957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A8C"/>
                </a:solidFill>
                <a:latin typeface="Aptos"/>
                <a:ea typeface="Aptos"/>
                <a:cs typeface="Aptos"/>
              </a:rPr>
              <a:t>Seguridad ciudadana en el Peru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AAAE7B-4CC0-4BBC-83A9-B692F6AB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174888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2387A0-5223-4D79-B1A5-3B1AC00D8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609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6091"/>
                </a:solidFill>
                <a:latin typeface="Aptos"/>
                <a:ea typeface="Aptos"/>
                <a:cs typeface="Aptos"/>
              </a:rPr>
              <a:t>HALLAZGO DESCRIPTIVO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BF633A-2BA2-4294-B515-1C99DFEDE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0B1723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0B1723"/>
                </a:solidFill>
                <a:latin typeface="Aptos"/>
                <a:ea typeface="Aptos"/>
                <a:cs typeface="Aptos"/>
              </a:rPr>
              <a:t>Evolucion anual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A54753-FBD3-4AA7-A4C0-B1D56C1A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9b90353dc04b2d"/>
          <a:stretch xmlns:a="http://schemas.openxmlformats.org/drawingml/2006/main"/>
        </p:blipFill>
        <p:spPr>
          <a:xfrm xmlns:a="http://schemas.openxmlformats.org/drawingml/2006/main">
            <a:off x="762000" y="1791685"/>
            <a:ext cx="7239000" cy="356037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4EA775-E34B-4847-BF29-EA940C52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09750"/>
            <a:ext cx="285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La percepcion de inseguridad supera de forma amplia a la victimización durante la mayor parte del periodo.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6A5ED2-C53F-46B1-B3CB-DE49C095D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219450"/>
            <a:ext cx="2857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Esta brecha justifica analizar seguridad ciudadana como un fenomeno de registros, experiencia y confianza, no como una sola cifra.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AE3198-F67C-44CA-A7BC-013020AF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A8C"/>
                </a:solidFill>
                <a:latin typeface="Aptos"/>
                <a:ea typeface="Aptos"/>
                <a:cs typeface="Aptos"/>
              </a:rPr>
              <a:t>Seguridad ciudadana en el Peru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1BE05E-0FBC-4CBC-B00C-3E314513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822307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312D9C-0406-42D0-8C1D-35168B797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609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6091"/>
                </a:solidFill>
                <a:latin typeface="Aptos"/>
                <a:ea typeface="Aptos"/>
                <a:cs typeface="Aptos"/>
              </a:rPr>
              <a:t>MAPA DE PRESION REGISTRADA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2AF7FE-C588-45B6-93C6-EFE341AB7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0B1723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0B1723"/>
                </a:solidFill>
                <a:latin typeface="Aptos"/>
                <a:ea typeface="Aptos"/>
                <a:cs typeface="Aptos"/>
              </a:rPr>
              <a:t>Denuncias registradas en 2024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50538C-8E0B-4178-AB68-4D532472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5fbdf39bc648a7"/>
          <a:stretch xmlns:a="http://schemas.openxmlformats.org/drawingml/2006/main"/>
        </p:blipFill>
        <p:spPr>
          <a:xfrm xmlns:a="http://schemas.openxmlformats.org/drawingml/2006/main">
            <a:off x="1579249" y="1390650"/>
            <a:ext cx="5128252" cy="4476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3D4757-102F-43BC-955A-1C1A7CA00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14500"/>
            <a:ext cx="295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056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La tasa por 100 mil habitantes permite comparar territorios con poblaciones distintas.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FD5B26-588D-4908-A901-02F1018B2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95600"/>
            <a:ext cx="30289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La lectura correcta es incidencia registrada, no criminalidad real. El registro depende tambien de denuncia, acceso institucional y practicas administrativas.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6F28EC-BAD7-4739-ACB8-F75E84D3F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A8C"/>
                </a:solidFill>
                <a:latin typeface="Aptos"/>
                <a:ea typeface="Aptos"/>
                <a:cs typeface="Aptos"/>
              </a:rPr>
              <a:t>Seguridad ciudadana en el Peru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FFE9AD-E036-4F38-98B5-B2EBF1983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9965377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A14548-A717-4AE0-9F32-3FE1FCC15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609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6091"/>
                </a:solidFill>
                <a:latin typeface="Aptos"/>
                <a:ea typeface="Aptos"/>
                <a:cs typeface="Aptos"/>
              </a:rPr>
              <a:t>BRECHA CONCEPTUAL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EDEF6C-A26E-4125-95CA-4B994E195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0B1723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0B1723"/>
                </a:solidFill>
                <a:latin typeface="Aptos"/>
                <a:ea typeface="Aptos"/>
                <a:cs typeface="Aptos"/>
              </a:rPr>
              <a:t>Victimizacion y percepcion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0A2C2E-3EE1-4FAB-AA9F-50469B47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b4c8d01da94e00"/>
          <a:stretch xmlns:a="http://schemas.openxmlformats.org/drawingml/2006/main"/>
        </p:blipFill>
        <p:spPr>
          <a:xfrm xmlns:a="http://schemas.openxmlformats.org/drawingml/2006/main">
            <a:off x="1602071" y="1447800"/>
            <a:ext cx="5235007" cy="43434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9966E9-1E76-41E7-A50E-0DDFB8BF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09750"/>
            <a:ext cx="300037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333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La nube de puntos muestra que ambas variables se relacionan, pero no cuentan exactamente la misma historia.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271456-B49A-4F49-882E-5359B45AD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19450"/>
            <a:ext cx="300037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Por eso el clustering combina indicadores y evita basarse solo en denuncias o solo en percepcion.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C7610F-DBC2-470A-ACB4-0B8C0F62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A8C"/>
                </a:solidFill>
                <a:latin typeface="Aptos"/>
                <a:ea typeface="Aptos"/>
                <a:cs typeface="Aptos"/>
              </a:rPr>
              <a:t>Seguridad ciudadana en el Peru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BFE74E-A95B-4902-A524-FBE4B9913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C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0266202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3B2D23-965F-4C74-89EF-159D21273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609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6091"/>
                </a:solidFill>
                <a:latin typeface="Aptos"/>
                <a:ea typeface="Aptos"/>
                <a:cs typeface="Aptos"/>
              </a:rPr>
              <a:t>MODELO NO SUPERVISADO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AC11CE-5911-42B9-8BCA-5A7957F3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0B1723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0B1723"/>
                </a:solidFill>
                <a:latin typeface="Aptos"/>
                <a:ea typeface="Aptos"/>
                <a:cs typeface="Aptos"/>
              </a:rPr>
              <a:t>Seleccion del clustering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CFC68-D8CD-4150-BA92-CF5873C4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7b7570b6b842c2"/>
          <a:stretch xmlns:a="http://schemas.openxmlformats.org/drawingml/2006/main"/>
        </p:blipFill>
        <p:spPr>
          <a:xfrm xmlns:a="http://schemas.openxmlformats.org/drawingml/2006/main">
            <a:off x="685800" y="2135865"/>
            <a:ext cx="5219700" cy="2567221"/>
          </a:xfrm>
          <a:prstGeom xmlns:a="http://schemas.openxmlformats.org/drawingml/2006/main" prst="rect">
            <a:avLst/>
          </a:prstGeom>
        </p:spPr>
      </p:pic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bbe994490a43a6"/>
          <a:stretch xmlns:a="http://schemas.openxmlformats.org/drawingml/2006/main"/>
        </p:blipFill>
        <p:spPr>
          <a:xfrm xmlns:a="http://schemas.openxmlformats.org/drawingml/2006/main">
            <a:off x="6191250" y="2135865"/>
            <a:ext cx="5219700" cy="2567221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C9193-4CEC-440A-852D-C0B65D1B0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619750"/>
            <a:ext cx="9620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Modelo final: KMeans, k=2. La decision combina metrica, estabilidad e interpretabilidad.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D22276-CF4F-47D1-ABDD-37C8C4C5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A8C"/>
                </a:solidFill>
                <a:latin typeface="Aptos"/>
                <a:ea typeface="Aptos"/>
                <a:cs typeface="Aptos"/>
              </a:rPr>
              <a:t>Seguridad ciudadana en el Peru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FC8C97-C971-461B-A046-B62E4DA0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9793278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E97F97-0EEC-41C5-B599-5BD3A8604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609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6091"/>
                </a:solidFill>
                <a:latin typeface="Aptos"/>
                <a:ea typeface="Aptos"/>
                <a:cs typeface="Aptos"/>
              </a:rPr>
              <a:t>RESULTADO DE CLUSTERING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6A21A6-9B8E-4325-87DE-AC2758A8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0B1723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0B1723"/>
                </a:solidFill>
                <a:latin typeface="Aptos"/>
                <a:ea typeface="Aptos"/>
                <a:cs typeface="Aptos"/>
              </a:rPr>
              <a:t>Perfiles territoriales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3E9402-EF9C-4816-9033-A9EF9169C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1ee4aba1314825"/>
          <a:stretch xmlns:a="http://schemas.openxmlformats.org/drawingml/2006/main"/>
        </p:blipFill>
        <p:spPr>
          <a:xfrm xmlns:a="http://schemas.openxmlformats.org/drawingml/2006/main">
            <a:off x="1213753" y="1428750"/>
            <a:ext cx="5097244" cy="42291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2017C7-B31E-4E08-858D-30077554D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192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0833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E6091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E6091"/>
                </a:solidFill>
                <a:latin typeface="Aptos"/>
                <a:ea typeface="Aptos"/>
                <a:cs typeface="Aptos"/>
              </a:rPr>
              <a:t>Cluster 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EBA651-6689-4308-B5AC-BC8A39ED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00250"/>
            <a:ext cx="342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96 observaciones. Menor presion registrada y percibida en promedio.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0D4ADC-0703-46FD-990C-2CE5C944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051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0833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C8963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963E"/>
                </a:solidFill>
                <a:latin typeface="Aptos"/>
                <a:ea typeface="Aptos"/>
                <a:cs typeface="Aptos"/>
              </a:rPr>
              <a:t>Cluster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9823B6-1337-458C-9930-4B84E91C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86150"/>
            <a:ext cx="342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602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79 observaciones. Mayor tasa registrada y mayor percepcion de inseguridad promedio.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AB422A-51D8-4E5D-A31D-4F4AE3368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1490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514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B7A8C"/>
                </a:solidFill>
                <a:latin typeface="Aptos"/>
                <a:ea typeface="Aptos"/>
                <a:cs typeface="Aptos"/>
              </a:rPr>
              <a:t>La PCA solo ayuda a visualizar. El agrupamiento se entreno con variables estandarizadas.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139187-AC4A-4B30-A903-0DFF487F1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A8C"/>
                </a:solidFill>
                <a:latin typeface="Aptos"/>
                <a:ea typeface="Aptos"/>
                <a:cs typeface="Aptos"/>
              </a:rPr>
              <a:t>Seguridad ciudadana en el Peru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1C1DD2-5A36-47FA-81AF-4EEB24F3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C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5038814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C1E423-4CAF-4FB9-B94A-02A058868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609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6091"/>
                </a:solidFill>
                <a:latin typeface="Aptos"/>
                <a:ea typeface="Aptos"/>
                <a:cs typeface="Aptos"/>
              </a:rPr>
              <a:t>LECTURA TERRITORIAL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123E8D-B72C-463C-BAFA-6D824F6C4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0B1723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0B1723"/>
                </a:solidFill>
                <a:latin typeface="Aptos"/>
                <a:ea typeface="Aptos"/>
                <a:cs typeface="Aptos"/>
              </a:rPr>
              <a:t>Clusters sobre el Peru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A3F543-A2A1-4C4D-BF1A-A693F2EC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30925ffb2145bc"/>
          <a:stretch xmlns:a="http://schemas.openxmlformats.org/drawingml/2006/main"/>
        </p:blipFill>
        <p:spPr>
          <a:xfrm xmlns:a="http://schemas.openxmlformats.org/drawingml/2006/main">
            <a:off x="1503240" y="1371600"/>
            <a:ext cx="4784969" cy="47244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AADBEE-B415-45A8-8473-BB3D7FE99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95450"/>
            <a:ext cx="304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556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El mapa ayuda a leer los perfiles como territorio, no como una tabla aislada.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59F9BA-DCC1-408C-9E5B-1DA581A43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33700"/>
            <a:ext cx="3048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Lima y Callao ya aparecen en la data modelada porque sus nombres se normalizaron al nivel departamental del mapa y de la poblacion.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BFD220-65BD-4153-8E83-0D96938F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A8C"/>
                </a:solidFill>
                <a:latin typeface="Aptos"/>
                <a:ea typeface="Aptos"/>
                <a:cs typeface="Aptos"/>
              </a:rPr>
              <a:t>Seguridad ciudadana en el Peru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BB2C82-19F3-4965-BF93-73A51CA4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2310997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3C382E-7EF6-4059-A639-48601E489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609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6091"/>
                </a:solidFill>
                <a:latin typeface="Aptos"/>
                <a:ea typeface="Aptos"/>
                <a:cs typeface="Aptos"/>
              </a:rPr>
              <a:t>BENCHMARK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AA8BB1-52A8-4687-ADA7-04F227E6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0B1723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0B1723"/>
                </a:solidFill>
                <a:latin typeface="Aptos"/>
                <a:ea typeface="Aptos"/>
                <a:cs typeface="Aptos"/>
              </a:rPr>
              <a:t>Clasificacion supervisada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EFD559-791D-4E07-8CDF-BD0F27A8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838200" y="1676400"/>
          <a:ext xmlns:a="http://schemas.openxmlformats.org/drawingml/2006/main" cx="6858000" cy="2286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5715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Modelo</a:t>
                      </a:r>
                    </a:p>
                  </a:txBody>
                  <a:tcPr marL="91440" marR="91440" marT="45720" marB="45720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Accuracy</a:t>
                      </a:r>
                    </a:p>
                  </a:txBody>
                  <a:tcPr marL="91440" marR="91440" marT="45720" marB="45720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Precision</a:t>
                      </a:r>
                    </a:p>
                  </a:txBody>
                  <a:tcPr marL="91440" marR="91440" marT="45720" marB="45720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Recall</a:t>
                      </a:r>
                    </a:p>
                  </a:txBody>
                  <a:tcPr marL="91440" marR="91440" marT="45720" marB="45720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F1</a:t>
                      </a:r>
                    </a:p>
                  </a:txBody>
                  <a:tcPr marL="91440" marR="91440" marT="45720" marB="45720">
                    <a:solidFill>
                      <a:srgbClr val="102A4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43447"/>
                          </a:solidFill>
                          <a:latin typeface="Aptos"/>
                          <a:ea typeface="Aptos"/>
                          <a:cs typeface="Aptos"/>
                        </a:rPr>
                        <a:t>DummyClassifier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43447"/>
                          </a:solidFill>
                          <a:latin typeface="Aptos"/>
                          <a:ea typeface="Aptos"/>
                          <a:cs typeface="Aptos"/>
                        </a:rPr>
                        <a:t>0.72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43447"/>
                          </a:solidFill>
                          <a:latin typeface="Aptos"/>
                          <a:ea typeface="Aptos"/>
                          <a:cs typeface="Aptos"/>
                        </a:rPr>
                        <a:t>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43447"/>
                          </a:solidFill>
                          <a:latin typeface="Aptos"/>
                          <a:ea typeface="Aptos"/>
                          <a:cs typeface="Aptos"/>
                        </a:rPr>
                        <a:t>0.00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43447"/>
                          </a:solidFill>
                          <a:latin typeface="Aptos"/>
                          <a:ea typeface="Aptos"/>
                          <a:cs typeface="Aptos"/>
                        </a:rPr>
                        <a:t>0.00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43447"/>
                          </a:solidFill>
                          <a:latin typeface="Aptos"/>
                          <a:ea typeface="Aptos"/>
                          <a:cs typeface="Aptos"/>
                        </a:rPr>
                        <a:t>LogisticRegression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43447"/>
                          </a:solidFill>
                          <a:latin typeface="Aptos"/>
                          <a:ea typeface="Aptos"/>
                          <a:cs typeface="Aptos"/>
                        </a:rPr>
                        <a:t>0.78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43447"/>
                          </a:solidFill>
                          <a:latin typeface="Aptos"/>
                          <a:ea typeface="Aptos"/>
                          <a:cs typeface="Aptos"/>
                        </a:rPr>
                        <a:t>0.56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43447"/>
                          </a:solidFill>
                          <a:latin typeface="Aptos"/>
                          <a:ea typeface="Aptos"/>
                          <a:cs typeface="Aptos"/>
                        </a:rPr>
                        <a:t>1.00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43447"/>
                          </a:solidFill>
                          <a:latin typeface="Aptos"/>
                          <a:ea typeface="Aptos"/>
                          <a:cs typeface="Aptos"/>
                        </a:rPr>
                        <a:t>0.72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43447"/>
                          </a:solidFill>
                          <a:latin typeface="Aptos"/>
                          <a:ea typeface="Aptos"/>
                          <a:cs typeface="Aptos"/>
                        </a:rPr>
                        <a:t>RandomForest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43447"/>
                          </a:solidFill>
                          <a:latin typeface="Aptos"/>
                          <a:ea typeface="Aptos"/>
                          <a:cs typeface="Aptos"/>
                        </a:rPr>
                        <a:t>0.92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43447"/>
                          </a:solidFill>
                          <a:latin typeface="Aptos"/>
                          <a:ea typeface="Aptos"/>
                          <a:cs typeface="Aptos"/>
                        </a:rPr>
                        <a:t>0.78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43447"/>
                          </a:solidFill>
                          <a:latin typeface="Aptos"/>
                          <a:ea typeface="Aptos"/>
                          <a:cs typeface="Aptos"/>
                        </a:rPr>
                        <a:t>1.00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243447"/>
                          </a:solidFill>
                          <a:latin typeface="Aptos"/>
                          <a:ea typeface="Aptos"/>
                          <a:cs typeface="Aptos"/>
                        </a:rPr>
                        <a:t>0.88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786D98-9CBA-46B6-8A5F-18112930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6764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7273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B7A8C"/>
                </a:solidFill>
                <a:latin typeface="Aptos"/>
                <a:ea typeface="Aptos"/>
                <a:cs typeface="Aptos"/>
              </a:rPr>
              <a:t>Mejor modelo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012C69-7828-4FF2-BF9D-33728349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38350"/>
            <a:ext cx="295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216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Random Forest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544994-37BC-4097-987C-7DEE3DC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24150"/>
            <a:ext cx="2952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F1 = 0.88 y recall = 1.00 para la clase de victimización alta en el conjunto de prueba.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8FFD79-C0D3-483F-AC6F-79B97C4B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62500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E6091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E6091"/>
                </a:solidFill>
                <a:latin typeface="Aptos"/>
                <a:ea typeface="Aptos"/>
                <a:cs typeface="Aptos"/>
              </a:rPr>
              <a:t>El baseline logra accuracy aparente, pero no detecta casos positivos.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95C024-353A-4E7A-A4BD-33E04CF7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A8C"/>
                </a:solidFill>
                <a:latin typeface="Aptos"/>
                <a:ea typeface="Aptos"/>
                <a:cs typeface="Aptos"/>
              </a:rPr>
              <a:t>Seguridad ciudadana en el Peru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D0209F-CEB7-4AC1-AA2D-DC9D8FE1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8879650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35DF7D-9960-4C0C-B030-AE6841E6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609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6091"/>
                </a:solidFill>
                <a:latin typeface="Aptos"/>
                <a:ea typeface="Aptos"/>
                <a:cs typeface="Aptos"/>
              </a:rPr>
              <a:t>DESEMPENO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6ED600-B0CC-44F7-A29F-7679C2BAE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0B1723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0B1723"/>
                </a:solidFill>
                <a:latin typeface="Aptos"/>
                <a:ea typeface="Aptos"/>
                <a:cs typeface="Aptos"/>
              </a:rPr>
              <a:t>Evaluacion del clasificador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813A44-FC2B-4181-9ECA-91908B984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70f49c04b24dc4"/>
          <a:stretch xmlns:a="http://schemas.openxmlformats.org/drawingml/2006/main"/>
        </p:blipFill>
        <p:spPr>
          <a:xfrm xmlns:a="http://schemas.openxmlformats.org/drawingml/2006/main">
            <a:off x="762000" y="1558294"/>
            <a:ext cx="3429000" cy="3036563"/>
          </a:xfrm>
          <a:prstGeom xmlns:a="http://schemas.openxmlformats.org/drawingml/2006/main" prst="rect">
            <a:avLst/>
          </a:prstGeom>
        </p:spPr>
      </p:pic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a7d06ab32049d3"/>
          <a:stretch xmlns:a="http://schemas.openxmlformats.org/drawingml/2006/main"/>
        </p:blipFill>
        <p:spPr>
          <a:xfrm xmlns:a="http://schemas.openxmlformats.org/drawingml/2006/main">
            <a:off x="4533900" y="1827571"/>
            <a:ext cx="3143250" cy="2498008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a40d198fe24579"/>
          <a:stretch xmlns:a="http://schemas.openxmlformats.org/drawingml/2006/main"/>
        </p:blipFill>
        <p:spPr>
          <a:xfrm xmlns:a="http://schemas.openxmlformats.org/drawingml/2006/main">
            <a:off x="7981950" y="1827571"/>
            <a:ext cx="3143250" cy="2498008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F70A5E-B03F-4107-A539-96F110FD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981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La evaluacion combina matriz de confusion, ROC-AUC y PR-AUC para no depender de una sola metrica.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0BC6B3-14FE-4DC9-9B9F-088DCEE5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A8C"/>
                </a:solidFill>
                <a:latin typeface="Aptos"/>
                <a:ea typeface="Aptos"/>
                <a:cs typeface="Aptos"/>
              </a:rPr>
              <a:t>Seguridad ciudadana en el Peru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041F29-4E6C-412C-B8C4-EE4425142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29324344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EC6EDF-BAA3-4E20-B197-4A4BF263A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609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6091"/>
                </a:solidFill>
                <a:latin typeface="Aptos"/>
                <a:ea typeface="Aptos"/>
                <a:cs typeface="Aptos"/>
              </a:rPr>
              <a:t>EXPLICABILIDAD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12D6E0-B3F6-44FD-93A4-812889276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0B1723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0B1723"/>
                </a:solidFill>
                <a:latin typeface="Aptos"/>
                <a:ea typeface="Aptos"/>
                <a:cs typeface="Aptos"/>
              </a:rPr>
              <a:t>Variables influyentes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D0C343-D1CA-4B17-A0A9-315AD325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3205e2bca14f71"/>
          <a:stretch xmlns:a="http://schemas.openxmlformats.org/drawingml/2006/main"/>
        </p:blipFill>
        <p:spPr>
          <a:xfrm xmlns:a="http://schemas.openxmlformats.org/drawingml/2006/main">
            <a:off x="742950" y="1519125"/>
            <a:ext cx="6572250" cy="40674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588CF5-810B-4614-94C3-2C2C3228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76400"/>
            <a:ext cx="3143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018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La importancia por permutacion muestra que variables aportan mas al F1 del modelo.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8CDC33-ED89-430B-B9A3-F48FB408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952750"/>
            <a:ext cx="3143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La interpretacion sigue siendo predictiva. Una variable importante no prueba causalidad ni justifica decisiones individuales.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29AD93-E72E-4C23-A982-111F6C7DC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A8C"/>
                </a:solidFill>
                <a:latin typeface="Aptos"/>
                <a:ea typeface="Aptos"/>
                <a:cs typeface="Aptos"/>
              </a:rPr>
              <a:t>Seguridad ciudadana en el Peru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C0EBB4-39CE-4F20-B16D-1752000EE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C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5719638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ED8DB7-5963-4862-BDD5-DDAA181EA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6091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E6091"/>
                </a:solidFill>
                <a:latin typeface="Aptos"/>
                <a:ea typeface="Aptos"/>
                <a:cs typeface="Aptos"/>
              </a:rPr>
              <a:t>USO PRUDENTE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152406-95BE-4C55-A000-556D512D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0B1723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0B1723"/>
                </a:solidFill>
                <a:latin typeface="Aptos"/>
                <a:ea typeface="Aptos"/>
                <a:cs typeface="Aptos"/>
              </a:rPr>
              <a:t>IA responsable y limites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ABB7B1-22EC-491C-8E7A-BDEB1235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9144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6F1378-E9AD-4BF0-AFED-DCC1B310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002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BAFB0B-0217-4159-BCE2-000062946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14500"/>
            <a:ext cx="9105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Las denuncias miden registros institucionales, no el total real de delitos.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DD22F1-3DA0-40A3-830F-42387E4B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241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A6287A-EF4D-432E-8B01-170CC2E1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38400"/>
            <a:ext cx="9105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ENAPRES permite integracion departamental, no inferencias distritales.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0498A4-B63E-4454-AC99-DFB94A6C3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480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6DD300-DCA7-4CA9-9CA5-EE9E02ADF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62300"/>
            <a:ext cx="9105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El modelo apoya diagnostico agregado; no debe usarse para decisiones sobre personas.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16E396-CCE8-4812-80A2-CB6A9134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719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69D8DE-DB6D-410C-A717-F76906FF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86200"/>
            <a:ext cx="91059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4344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243447"/>
                </a:solidFill>
                <a:latin typeface="Aptos"/>
                <a:ea typeface="Aptos"/>
                <a:cs typeface="Aptos"/>
              </a:rPr>
              <a:t>Los resultados deben actualizarse cuando cambien las fuentes oficiales.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479E15-1E34-4850-9DD2-1AD2E93E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9810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D52DC3-053B-4AA1-B981-1C65AAC8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24500"/>
            <a:ext cx="923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463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Principal defensa metodologica: el proyecto reconoce las limitaciones de medicion y no fuerza conclusiones causales.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AE2369-BA38-4B06-B029-3E4627AF2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6111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B7A8C"/>
                </a:solidFill>
                <a:latin typeface="Aptos"/>
                <a:ea typeface="Aptos"/>
                <a:cs typeface="Aptos"/>
              </a:rPr>
              <a:t>Seguridad ciudadana en el Peru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4A181E-A119-49AE-966B-DD21D3A43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2865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619"/>
          </a:bodyPr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B7A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B7A8C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93671780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19BA1B-B7D2-4FB0-9B73-F9A6C50E3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D08445-9497-48B9-A87D-499828A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62000"/>
            <a:ext cx="9144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E0871E-233A-406E-AEFB-7FB88A3D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001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032"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Conclusiones para la defensa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DFCFF9-678D-45D2-83A0-A459FEAA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479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F9312A-908B-44F2-896A-C89F15FBD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24100"/>
            <a:ext cx="876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8F0F7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E8F0F7"/>
                </a:solidFill>
                <a:latin typeface="Aptos"/>
                <a:ea typeface="Aptos"/>
                <a:cs typeface="Aptos"/>
              </a:rPr>
              <a:t>El nivel departamento-anio permite integrar fuentes oficiales sin duplicar evidencia.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19AF78-74D2-4DB6-B6F2-090D23038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337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A722B1-174F-4D5E-AD78-A0F9ACF95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009900"/>
            <a:ext cx="876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8F0F7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E8F0F7"/>
                </a:solidFill>
                <a:latin typeface="Aptos"/>
                <a:ea typeface="Aptos"/>
                <a:cs typeface="Aptos"/>
              </a:rPr>
              <a:t>El clustering separa dos perfiles territoriales interpretables.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5EB9E4-67B9-4BBC-8951-95D22C274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95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FD8825-327E-4D00-B52B-B0E5EB418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695700"/>
            <a:ext cx="876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8F0F7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E8F0F7"/>
                </a:solidFill>
                <a:latin typeface="Aptos"/>
                <a:ea typeface="Aptos"/>
                <a:cs typeface="Aptos"/>
              </a:rPr>
              <a:t>Random Forest supera al baseline y a Regresion Logistica en F1.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7003DF-7D2A-49AF-95E2-D59881A5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05325"/>
            <a:ext cx="8572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963E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3DB625-EAF6-4690-A723-2B6524719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81500"/>
            <a:ext cx="876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8F0F7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E8F0F7"/>
                </a:solidFill>
                <a:latin typeface="Aptos"/>
                <a:ea typeface="Aptos"/>
                <a:cs typeface="Aptos"/>
              </a:rPr>
              <a:t>La lectura responsable distingue registros, victimizacion y percepcion.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75DFE9-AA62-4EB7-B1FE-D3DA4F40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6769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E8F0F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E8F0F7"/>
                </a:solidFill>
                <a:latin typeface="Aptos"/>
                <a:ea typeface="Aptos"/>
                <a:cs typeface="Aptos"/>
              </a:rPr>
              <a:t>Mensaje final: la plataforma sirve para priorizar analisis territorial, no para etiquetar territorios ni personas.</a:t>
            </a:r>
          </a:p>
        </p:txBody>
      </p:sp>
    </p:spTree>
    <p:extLst>
      <p:ext uri="{BB962C8B-B14F-4D97-AF65-F5344CB8AC3E}">
        <p14:creationId xmlns:p14="http://schemas.microsoft.com/office/powerpoint/2010/main" val="7274350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2026-09-12T04:22:35.0930000Z</dcterms:created>
  <dcterms:modified xsi:type="dcterms:W3CDTF">2026-09-12T04:22:35.0930000Z</dcterms:modified>
</coreProperties>
</file>